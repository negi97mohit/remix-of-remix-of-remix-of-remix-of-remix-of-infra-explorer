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48CAE4"/>
                </a:solidFill>
              </a:defRPr>
            </a:pPr>
            <a:r>
              <a:t>CERN COMPUTING RESOURCE INFORMATION CATALOGUE (CRIC) POC</a:t>
            </a:r>
          </a:p>
          <a:p>
            <a:pPr>
              <a:spcAft>
                <a:spcPts val="1200"/>
              </a:spcAft>
              <a:defRPr sz="4000" b="1">
                <a:solidFill>
                  <a:srgbClr val="F8F9FA"/>
                </a:solidFill>
              </a:defRPr>
            </a:pPr>
            <a:r>
              <a:t>WLCG Infrastructure Explorer</a:t>
            </a:r>
          </a:p>
          <a:p>
            <a:pPr>
              <a:spcAft>
                <a:spcPts val="2400"/>
              </a:spcAft>
              <a:defRPr sz="2000">
                <a:solidFill>
                  <a:srgbClr val="48CAE4"/>
                </a:solidFill>
              </a:defRPr>
            </a:pPr>
            <a:r>
              <a:t>Explainable Multi-Source Grid Reconciliation &amp; Provenance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10332720" cy="164592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F8F9FA"/>
                </a:solidFill>
              </a:defRPr>
            </a:pPr>
            <a:r>
              <a:t>Technical Architecture Demonstration | IT-CE-LCG-2026-54-GRAP</a:t>
            </a:r>
          </a:p>
          <a:p>
            <a:pPr>
              <a:spcAft>
                <a:spcPts val="800"/>
              </a:spcAft>
              <a:defRPr sz="1200">
                <a:solidFill>
                  <a:srgbClr val="06D6A0"/>
                </a:solidFill>
              </a:defRPr>
            </a:pPr>
            <a:r>
              <a:t>Key Pillars: 1. Raw Provenance Preservation  |  2. Explainable Evidence Scoring  |  3. Data Quality Awareness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Data Sources: GOCDB (REST/XML) • BDII (LDAP/GLUE2) • OSG Topology (XML/JSON)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WLCG CRIC TECHNICAL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</a:defRPr>
            </a:pPr>
            <a:r>
              <a:t>The Challenge: Heterogeneous Grid Resource Catalogues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8CAE4"/>
                </a:solidFill>
              </a:defRPr>
            </a:pPr>
            <a:r>
              <a:t>1. Disparate Protocols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GOCDB serves authoritative European site registries via REST XML.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BDII relies on LDAP queries exposing complex GLUE2 hierarchical schemas.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OSG Topology exposes US grid resource groups via distinct XML/JSON endpoints.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No single protocol or unified key connects entities out-of-the-box.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B703"/>
                </a:solidFill>
              </a:defRPr>
            </a:pPr>
            <a:r>
              <a:t>2. Schema Drift &amp; Flaws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Whitespace inconsistencies (e.g. leading spaces in GOCDB GIIS URLs).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Conflicting naming conventions across domains (FQDN vs local alias).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Legacy records with missing geographic coordinates or stale endpoints.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Traditional ETL pipelines fail silently or drop non-compliant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7209B7"/>
                </a:solidFill>
              </a:defRPr>
            </a:pPr>
            <a:r>
              <a:t>3. Black-Box Entity Merging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Heuristics without audit trails create confusion for Grid operators.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Unexplainable ML deduplication obscures root-cause discrepancy sources.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Critical need for transparent, explainable scoring criteria.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WLCG operations demand reproducible provenance down to raw timestamps.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WLCG CRIC TECHNICAL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</a:defRPr>
            </a:pPr>
            <a:r>
              <a:t>Architecture: 4-Stage Resilient Processing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116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8CAE4"/>
                </a:solidFill>
              </a:defRPr>
            </a:pPr>
            <a:r>
              <a:t>Stage 1: Ingestion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Independent Adapters for GOCDB, BDII, and OSG.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Immutable Raw Snapshot capture.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No destructive transformation at capture point.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Timestamped provenance hash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20116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D6A0"/>
                </a:solidFill>
              </a:defRPr>
            </a:pPr>
            <a:r>
              <a:t>Stage 2: Sanitization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Defensive field normalization.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Whitespace trimming and host canonicalization.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Zero data loss philosophy.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Records flagged as valid_with_warnings rather than dropped.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20116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B703"/>
                </a:solidFill>
              </a:defRPr>
            </a:pPr>
            <a:r>
              <a:t>Stage 3: Reconciliation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Weighted evidence scoring engine.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+40 Domain ID match.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+25 Endpoint Host match.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+20 ISO Country match.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Deterministic confidence classification.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828800"/>
            <a:ext cx="201168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7209B7"/>
                </a:solidFill>
              </a:defRPr>
            </a:pPr>
            <a:r>
              <a:t>Stage 4: Unified Model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Canonical WLCG Site topology.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Multi-provider side-by-side view.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Interactive Explorer dashboard.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Netlify Edge distribution with live SSR/API endpoints.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WLCG CRIC TECHNICAL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</a:defRPr>
            </a:pPr>
            <a:r>
              <a:t>Architectural Pillar 1: Preserving Raw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8CAE4"/>
                </a:solidFill>
              </a:defRPr>
            </a:pPr>
            <a:r>
              <a:t>Non-Destructive Ingestion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Raw payloads from GOCDB, BDII LDAP, and OSG are preserved byte-for-byte.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No downstream reconciliation step overwrites or alters original records.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Every reconciled field retains a pointer back to its specific source record ID.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Guarantees that auditability and legal data provenance remain 100% intact.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Permits retroactive re-execution of new matching rules without re-fetching historical snapshots.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D6A0"/>
                </a:solidFill>
              </a:defRPr>
            </a:pPr>
            <a:r>
              <a:t>Provenance Tree Model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Interactive field-level drill-down for grid operations engineers.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Answers 'Where did this endpoint URL originate?' in 1 click.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Example Provenance Path: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  Canonical Site -&gt; Endpoint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  ↳ Source: BDII GLUE2 (sbdii.ui.savba.sk:2170)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  ↳ Entity: GLUE2EndpointID=iisas-ce01.savba.sk:8443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  ↳ Ingestion Timestamp: 2026-09-05T08:30:00Z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  ↳ Raw Snapshot Hash: sha256:7f49a2b8e3c1...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WLCG CRIC TECHNICAL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</a:defRPr>
            </a:pPr>
            <a:r>
              <a:t>Architectural Pillar 2: Data Quality Awareness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B703"/>
                </a:solidFill>
              </a:defRPr>
            </a:pPr>
            <a:r>
              <a:t>Handling Upstream Real-World Anomalies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Real-world grid catalogues frequently contain edge-case anomalies.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Observed GOCDB Case: GIIS URL fields contain leading/trailing whitespaces.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Observed BDII Case: Mismatched LDAP DN casing and legacy schema artifacts.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Observed OSG Case: Resource Group alias collisions with legacy FQDNs.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Our Approach: Automatic defensive sanitation without discarding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8CAE4"/>
                </a:solidFill>
              </a:defRPr>
            </a:pPr>
            <a:r>
              <a:t>The 'valid_with_warnings' Contract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Traditional pipelines treat warnings as fatal errors or ignore them silently.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CRIC POC introduces explicit validity classification: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  • VALID: Clean record conforming to canonical schema.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  • VALID_WITH_WARNINGS: Sanitized anomaly preserved with warning badge.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  • INVALID: Critical structural failure with logged diagnostic.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Exposes quality dashboards so site managers can correct source metadata.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WLCG CRIC TECHNICAL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</a:defRPr>
            </a:pPr>
            <a:r>
              <a:t>Architectural Pillar 3: Explainable Entity Resolution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7209B7"/>
                </a:solidFill>
              </a:defRPr>
            </a:pPr>
            <a:r>
              <a:t>Weighted Evidence Scoring Engine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Reconciliation requires auditable mathematical criteria, not black-box guesses.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Evidence Breakdown: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  • +40 points: Canonical Domain / FQDN identifier match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  • +25 points: Compute/Storage Endpoint Hostname match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  • +20 points: ISO 3166 Country Code match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Confidence Tier Thresholds: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  • High Confidence: Score &gt;= 60 (Automatic Merge)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  • Review Required: 30 &lt;= Score &lt; 60 (Operator Attention)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  • Distinct: Score &lt; 30 (Separate Site Entities)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D6A0"/>
                </a:solidFill>
              </a:defRPr>
            </a:pPr>
            <a:r>
              <a:t>Example Resolution: IISAS-Bratislava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GOCDB Record: Site ID 41 | IISAS-Bratislava | Slovakia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BDII Record: GLUE2DomainID=IISAS-Bratislava | Slovakia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Score Calculation: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  [✓] Domain ID Match ('IISAS-Bratislava'): +40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  [✓] Endpoint Host Match ('ce01.savba.sk'): +25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  [✓] Country Match ('Slovakia'): +20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Total Resolution Score = 85 (HIGH CONFIDENCE)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Full transparent breakdown visible to grid operators in the UI.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WLCG CRIC TECHNICAL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</a:defRPr>
            </a:pPr>
            <a:r>
              <a:t>Canonical Information Model: WLCG Topology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8CAE4"/>
                </a:solidFill>
              </a:defRPr>
            </a:pPr>
            <a:r>
              <a:t>1. Site Level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Unique Canonical ID (e.g. site:iisas-bratislava)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Authoritative Name &amp; Official Tier level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ISO Country &amp; Verified Geographic Coordinates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Active Regional Operations Center (ROC)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Participating Provider Snapshot References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B703"/>
                </a:solidFill>
              </a:defRPr>
            </a:pPr>
            <a:r>
              <a:t>2. Service Cluster Level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CE (Computing Element): HTCondor-CE, ARC-CE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SE (Storage Element): dCache, EOS, StoRM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Central monitoring, squids, and site BDIIs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Cluster status and operational downtime states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D6A0"/>
                </a:solidFill>
              </a:defRPr>
            </a:pPr>
            <a:r>
              <a:t>3. Endpoint &amp; VO Level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Standardized interface protocol (WLCG-SRM, WLCG-CE)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FQDN, port, URL path, and security capabilities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Supported Virtual Organizations (ATLAS, CMS, ALICE, LHCb)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Quality assurance &amp; health check state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WLCG CRIC TECHNICAL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</a:defRPr>
            </a:pPr>
            <a:r>
              <a:t>Infrastructure Explorer: Interactive Observability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8CAE4"/>
                </a:solidFill>
              </a:defRPr>
            </a:pPr>
            <a:r>
              <a:t>Key Frontend Capabilities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Dashboard Overview: Real-time provider health, total sites, and match ratios.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Interactive World Map: D3 &amp; React Simple Maps plotting live site coordinates.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Side-by-Side Comparison: GitHub diff-style comparison of GOCDB vs BDII vs OSG.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Reconciliation Inspector: Real-time step-through of evidence scoring calculation.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Faceted Site Explorer: Filter by country, provider, confidence, and service type.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7209B7"/>
                </a:solidFill>
              </a:defRPr>
            </a:pPr>
            <a:r>
              <a:t>Built for WLCG Operations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Dark High-Tech Interface: Built with Tailwind CSS, Lucide icons, and Radix UI.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Responsive &amp; High-Performance: Sub-second search across hundreds of sites.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Discrepancy Highlighting: Visual badges immediately isolate conflicting fields.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Direct Provenance Tracing: View raw JSON/XML snippet from any field click.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Production-grade UX ready for LHC Run 3 and HL-LHC preparation.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WLCG CRIC TECHNICAL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</a:defRPr>
            </a:pPr>
            <a:r>
              <a:t>Deployment: Netlify Edge &amp; Serverless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D6A0"/>
                </a:solidFill>
              </a:defRPr>
            </a:pPr>
            <a:r>
              <a:t>Production Build &amp; Hosting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Engineered with TanStack Start &amp; Nitro Engine.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Configured with native netlify.toml preset for automated deployment.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Client static assets hosted on Netlify Global Edge CDN (dist/).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Serverless functions execute SSR and API endpoints (.netlify/functions-internal).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Continuous Deployment directly linked to GitHub repository.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8CAE4"/>
                </a:solidFill>
              </a:defRPr>
            </a:pPr>
            <a:r>
              <a:t>Reliability &amp; Scalability Benefits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Instant rollbacks and preview deployments on every Git pull request.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Immutable asset caching with 1-year Cache-Control headers.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Low latency worldwide for distributed WLCG computing collaborators.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Zero-maintenance infrastructure scaling automatically with traffic spikes.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8CAE4"/>
                </a:solidFill>
              </a:defRPr>
            </a:pPr>
            <a:r>
              <a:t>WLCG CRIC TECHNICAL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9FA"/>
                </a:solidFill>
              </a:defRPr>
            </a:pPr>
            <a:r>
              <a:t>Summary &amp; Future Roadmap for WLCG CRIC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D6A0"/>
                </a:solidFill>
              </a:defRPr>
            </a:pPr>
            <a:r>
              <a:t>POC Key Achievements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Proved automated multi-catalogue federation across GOCDB, BDII, and OSG.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Achieved zero data loss via defensive valid_with_warnings classification.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Delivered 100% auditable evidence scoring without black-box models.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Built a modern, reactive visual explorer deployed to cloud edge.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Directly aligns with CERN IT-CE-LCG mandate for reliable grid metadata.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2D3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48CAE4"/>
                </a:solidFill>
              </a:defRPr>
            </a:pPr>
            <a:r>
              <a:t>Next Steps for Production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Scheduled Snapshot Polling: Automated 5-minute delta synchronizer.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CERN IAM Integration: Role-based access control for site administrators.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Historical Drift Tracking: Temporal diffs showing site changes over months.</a:t>
            </a:r>
          </a:p>
          <a:p>
            <a:pPr>
              <a:spcAft>
                <a:spcPts val="800"/>
              </a:spcAft>
              <a:defRPr sz="1200">
                <a:solidFill>
                  <a:srgbClr val="F8F9FA"/>
                </a:solidFill>
              </a:defRPr>
            </a:pPr>
            <a:r>
              <a:t>• HL-LHC Scale Testing: Benchmarking against full High-Luminosity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